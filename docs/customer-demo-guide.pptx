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B53AA-E5A8-0197-B784-A750C2679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7FD48F-A740-64C8-FE6B-C5C40A622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04798D-3FA4-F84A-85CA-56EB1398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48C573-DF03-3089-AEE3-EF9D2E39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0CD6BE-3133-C552-AE3C-D51B2F81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92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EF4A04-F4DA-B4BA-2FC3-74A2B8BF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46EA7A-F79F-5D15-38DE-460343188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E2256F-A0AA-D16F-B629-6050BD8E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310C69-E4A7-BD25-3932-C8BA3260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29C8B7-500B-4864-DD9D-C88E2686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21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E322C7-AD19-DB15-3896-95E202A1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A990C1-B883-EC48-78E8-4672AF0C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1ED04F-1207-4C15-717D-03B679B3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C560B2-903D-D2F1-0C5B-1BECD247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9EBBE0-3581-F1DB-4A88-3B4F894D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54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E1F240-9E92-CD05-35EE-8E8CBC1E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2356D0-8824-92BB-F535-DA4D5BE6E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FCA7E9-E658-CE2C-0C90-33D120E8C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322B9D-BE19-2DC1-B328-AD1EF438D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4113C9-4002-204B-0B8A-74A3B3D1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B9374A-FEC1-F1D7-3E64-6C5C3824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89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811770-6824-5FB9-FA70-AC9A5B15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B09F2A-7DF3-F8AD-87F8-3BD526A55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7EC950-A0F8-DECC-A1AF-602244E9C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FEEE0C-BD0F-ED0B-5FA3-C8C3A5136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D495FA-F886-F67B-EA94-38A6179AEA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C09B8A3-1C46-2AB6-D9C0-73B2C26CB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C1B71FB-4542-E341-C8DA-A33802D0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4B8560-6755-37DA-41CE-35BD3936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81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77462-7E46-EA0E-98F2-4A26804F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9CA2AAE-604F-8CCE-B888-63E3D4EA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69E3D6-A1A2-BC1C-E55A-545EC50C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D77D37-FBAE-1FE3-EE44-BC1707BF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65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286D7A8-7062-C872-C281-3987E328F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128D368-0BEA-30E9-5C72-9E622644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61C36A-E65F-AC61-41D9-9DA98FAA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21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5EB9C-9ACB-A4B6-8980-61771CA2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6F0BB1-E8A3-D4C0-8EE4-1C6FE75EA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A0EA20-5D7A-85A9-750E-976E5E35A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E3B6D6-77AC-F710-5384-2ED6A61F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DFBFB0-AC8E-9309-B335-798ED95C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3EE7F4-5D12-25B4-235F-999F95DD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98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7CB94-5B41-9796-EFF0-48D7E4F3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63B594-DFC9-3C74-ECE0-2A12F06C8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613336-65DC-B56B-1BD7-0062C4899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228AFF-6C30-5B51-44DF-62DFEADB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CCE144-37C2-3B65-B5DE-909F200E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9D597E-C686-68BA-1AA3-881A94CF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40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DD20AC-D93B-48B4-6307-8F22181B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4C3DE2-E2A8-A2AE-68EB-BD2B5CC0C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0949E5-908C-4588-1063-838AB05E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98CC96-C941-A23F-014D-AED4F336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C7641B-9F56-88B4-9F13-40F74186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9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79675F-9310-6651-37E1-397B9D44D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B31E8A-B30D-F6D6-A309-D5FE4159C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6AA386-CDC2-946E-1287-509157BC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DDFB20-CE96-727C-3D02-2F979A7A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156C80-9671-5B9B-33D7-03BDF347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038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458846D-426B-7CA4-FC97-7C96996A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697AA3-A73D-C26B-35DC-DE50ED7D1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326872-B6BD-B15A-E2AE-DA13AAA33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7B661-4C83-4B6B-B197-89F940821949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A697C7-EB68-E380-70F0-5184E3615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F197B-ADE1-2FAF-A5B8-B820529A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12547-8BC9-4D7E-B4B4-6253F4ADB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52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DDEB8E-C453-B856-0C9D-5E9600B1B5D9}"/>
              </a:ext>
            </a:extLst>
          </p:cNvPr>
          <p:cNvSpPr txBox="1"/>
          <p:nvPr/>
        </p:nvSpPr>
        <p:spPr>
          <a:xfrm>
            <a:off x="609600" y="558800"/>
            <a:ext cx="7493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900" b="1">
                <a:solidFill>
                  <a:srgbClr val="07111F"/>
                </a:solidFill>
                <a:latin typeface="Yu Gothic" panose="020B0400000000000000" pitchFamily="50" charset="-128"/>
              </a:rPr>
              <a:t>一般歯科材料在庫管理システム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DA0F2A-ECB7-E50D-DE46-36BE637C6479}"/>
              </a:ext>
            </a:extLst>
          </p:cNvPr>
          <p:cNvSpPr txBox="1"/>
          <p:nvPr/>
        </p:nvSpPr>
        <p:spPr>
          <a:xfrm>
            <a:off x="635000" y="1270000"/>
            <a:ext cx="876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500">
                <a:solidFill>
                  <a:srgbClr val="475569"/>
                </a:solidFill>
                <a:latin typeface="Yu Gothic" panose="020B0400000000000000" pitchFamily="50" charset="-128"/>
              </a:rPr>
              <a:t>在庫確認、出庫、不足確認、発注候補、納品確認までを一つの流れで扱うための試用デモ資料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5820518-74CC-2AD1-21B0-6188E1DBA70A}"/>
              </a:ext>
            </a:extLst>
          </p:cNvPr>
          <p:cNvSpPr/>
          <p:nvPr/>
        </p:nvSpPr>
        <p:spPr>
          <a:xfrm>
            <a:off x="635000" y="2159000"/>
            <a:ext cx="3022600" cy="1117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8718FD-41CC-A60D-D57F-2D4AA66ADF4F}"/>
              </a:ext>
            </a:extLst>
          </p:cNvPr>
          <p:cNvSpPr txBox="1"/>
          <p:nvPr/>
        </p:nvSpPr>
        <p:spPr>
          <a:xfrm>
            <a:off x="914400" y="2387600"/>
            <a:ext cx="2159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064E3B"/>
                </a:solidFill>
                <a:latin typeface="Yu Gothic" panose="020B0400000000000000" pitchFamily="50" charset="-128"/>
              </a:rPr>
              <a:t>日常出庫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7E64FD0-B38F-267B-D8EE-C3D08D1A6379}"/>
              </a:ext>
            </a:extLst>
          </p:cNvPr>
          <p:cNvSpPr txBox="1"/>
          <p:nvPr/>
        </p:nvSpPr>
        <p:spPr>
          <a:xfrm>
            <a:off x="914400" y="2781300"/>
            <a:ext cx="228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50">
                <a:solidFill>
                  <a:srgbClr val="475569"/>
                </a:solidFill>
                <a:latin typeface="Yu Gothic" panose="020B0400000000000000" pitchFamily="50" charset="-128"/>
              </a:rPr>
              <a:t>よく使う材料をすばやく記録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5A661BD-E997-9DA1-A5B4-3705A80DBA4D}"/>
              </a:ext>
            </a:extLst>
          </p:cNvPr>
          <p:cNvSpPr/>
          <p:nvPr/>
        </p:nvSpPr>
        <p:spPr>
          <a:xfrm>
            <a:off x="3937000" y="2159000"/>
            <a:ext cx="3022600" cy="1117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0084B2-83C2-0EDD-7A4B-83FFCAB6D0B7}"/>
              </a:ext>
            </a:extLst>
          </p:cNvPr>
          <p:cNvSpPr txBox="1"/>
          <p:nvPr/>
        </p:nvSpPr>
        <p:spPr>
          <a:xfrm>
            <a:off x="4216400" y="2387600"/>
            <a:ext cx="2159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92400E"/>
                </a:solidFill>
                <a:latin typeface="Yu Gothic" panose="020B0400000000000000" pitchFamily="50" charset="-128"/>
              </a:rPr>
              <a:t>不足確認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D8E5D2-7CAF-FCFE-BBDB-97968C5FDC07}"/>
              </a:ext>
            </a:extLst>
          </p:cNvPr>
          <p:cNvSpPr txBox="1"/>
          <p:nvPr/>
        </p:nvSpPr>
        <p:spPr>
          <a:xfrm>
            <a:off x="4216400" y="2781300"/>
            <a:ext cx="23495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50">
                <a:solidFill>
                  <a:srgbClr val="475569"/>
                </a:solidFill>
                <a:latin typeface="Yu Gothic" panose="020B0400000000000000" pitchFamily="50" charset="-128"/>
              </a:rPr>
              <a:t>最低在庫を下回った材料を把握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93D20AD-C655-0152-E324-11D32B4F9C52}"/>
              </a:ext>
            </a:extLst>
          </p:cNvPr>
          <p:cNvSpPr/>
          <p:nvPr/>
        </p:nvSpPr>
        <p:spPr>
          <a:xfrm>
            <a:off x="7239000" y="2159000"/>
            <a:ext cx="3022600" cy="111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51C809-C122-8674-F509-473190AF3467}"/>
              </a:ext>
            </a:extLst>
          </p:cNvPr>
          <p:cNvSpPr txBox="1"/>
          <p:nvPr/>
        </p:nvSpPr>
        <p:spPr>
          <a:xfrm>
            <a:off x="7518400" y="2387600"/>
            <a:ext cx="2159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1E3A8A"/>
                </a:solidFill>
                <a:latin typeface="Yu Gothic" panose="020B0400000000000000" pitchFamily="50" charset="-128"/>
              </a:rPr>
              <a:t>発注準備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50BE815-55BA-8DF3-A125-B90A050A9C69}"/>
              </a:ext>
            </a:extLst>
          </p:cNvPr>
          <p:cNvSpPr txBox="1"/>
          <p:nvPr/>
        </p:nvSpPr>
        <p:spPr>
          <a:xfrm>
            <a:off x="7518400" y="2781300"/>
            <a:ext cx="2413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zh-TW" altLang="en-US" sz="1150">
                <a:solidFill>
                  <a:srgbClr val="475569"/>
                </a:solidFill>
                <a:latin typeface="Yu Gothic" panose="020B0400000000000000" pitchFamily="50" charset="-128"/>
              </a:rPr>
              <a:t>発注候補、送付記録、納品確認</a:t>
            </a:r>
            <a:endParaRPr kumimoji="1" lang="ja-JP" altLang="en-US" sz="1150">
              <a:solidFill>
                <a:srgbClr val="475569"/>
              </a:solidFill>
              <a:latin typeface="Yu Gothic" panose="020B0400000000000000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306810FF-12F1-04E2-5E8D-49F121B576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43" y="3708400"/>
            <a:ext cx="4627314" cy="26035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427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E930CD-6BEB-0282-BB68-72B60DAC9E25}"/>
              </a:ext>
            </a:extLst>
          </p:cNvPr>
          <p:cNvSpPr txBox="1"/>
          <p:nvPr/>
        </p:nvSpPr>
        <p:spPr>
          <a:xfrm>
            <a:off x="558800" y="4318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000" b="1">
                <a:solidFill>
                  <a:srgbClr val="0F766E"/>
                </a:solidFill>
                <a:latin typeface="Yu Gothic" panose="020B0400000000000000" pitchFamily="50" charset="-128"/>
              </a:rPr>
              <a:t>課題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8C8517-28C3-5D93-0B6D-46F418C71966}"/>
              </a:ext>
            </a:extLst>
          </p:cNvPr>
          <p:cNvSpPr txBox="1"/>
          <p:nvPr/>
        </p:nvSpPr>
        <p:spPr>
          <a:xfrm>
            <a:off x="558800" y="736600"/>
            <a:ext cx="977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紙や</a:t>
            </a:r>
            <a:r>
              <a:rPr kumimoji="1" lang="en-US" altLang="ja-JP" sz="2700" b="1">
                <a:solidFill>
                  <a:srgbClr val="08111F"/>
                </a:solidFill>
                <a:latin typeface="Yu Gothic" panose="020B0400000000000000" pitchFamily="50" charset="-128"/>
              </a:rPr>
              <a:t>Excel</a:t>
            </a:r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だけでは、在庫判断が人の記憶に寄りやすい。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880FF0-EAC5-FAE8-127D-1F3A4756D0B5}"/>
              </a:ext>
            </a:extLst>
          </p:cNvPr>
          <p:cNvSpPr txBox="1"/>
          <p:nvPr/>
        </p:nvSpPr>
        <p:spPr>
          <a:xfrm>
            <a:off x="558800" y="1346200"/>
            <a:ext cx="10287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50">
                <a:solidFill>
                  <a:srgbClr val="475569"/>
                </a:solidFill>
                <a:latin typeface="Yu Gothic" panose="020B0400000000000000" pitchFamily="50" charset="-128"/>
              </a:rPr>
              <a:t>最初のデモでは、現場で起きやすい小さな困りごとを、日常操作の流れで確認します。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90D4ED-839A-56B4-55D9-D609719BD589}"/>
              </a:ext>
            </a:extLst>
          </p:cNvPr>
          <p:cNvCxnSpPr/>
          <p:nvPr/>
        </p:nvCxnSpPr>
        <p:spPr>
          <a:xfrm>
            <a:off x="558800" y="1803400"/>
            <a:ext cx="11074400" cy="0"/>
          </a:xfrm>
          <a:prstGeom prst="line">
            <a:avLst/>
          </a:prstGeom>
          <a:ln w="127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C271628-32DE-62C6-6FF3-45BCD9D4299A}"/>
              </a:ext>
            </a:extLst>
          </p:cNvPr>
          <p:cNvSpPr/>
          <p:nvPr/>
        </p:nvSpPr>
        <p:spPr>
          <a:xfrm>
            <a:off x="1016000" y="23622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24639D-9EDD-E97A-E641-7A4E4473070D}"/>
              </a:ext>
            </a:extLst>
          </p:cNvPr>
          <p:cNvSpPr txBox="1"/>
          <p:nvPr/>
        </p:nvSpPr>
        <p:spPr>
          <a:xfrm>
            <a:off x="1295400" y="22860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どの商品が不足しているか分かりにくい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EFE1E23-024D-AE54-00AE-87AD1073C9A5}"/>
              </a:ext>
            </a:extLst>
          </p:cNvPr>
          <p:cNvSpPr/>
          <p:nvPr/>
        </p:nvSpPr>
        <p:spPr>
          <a:xfrm>
            <a:off x="1016000" y="28956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61D582A-8CE2-5CD1-A0E0-F6DEF36C6675}"/>
              </a:ext>
            </a:extLst>
          </p:cNvPr>
          <p:cNvSpPr txBox="1"/>
          <p:nvPr/>
        </p:nvSpPr>
        <p:spPr>
          <a:xfrm>
            <a:off x="1295400" y="28194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発注すべき商品が担当者の記憶に頼りやすい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7DE1D28-1421-09D1-9DE7-730A6AF6E411}"/>
              </a:ext>
            </a:extLst>
          </p:cNvPr>
          <p:cNvSpPr/>
          <p:nvPr/>
        </p:nvSpPr>
        <p:spPr>
          <a:xfrm>
            <a:off x="1016000" y="34290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F7AB520-D0DE-3BF4-306F-1FEE40340392}"/>
              </a:ext>
            </a:extLst>
          </p:cNvPr>
          <p:cNvSpPr txBox="1"/>
          <p:nvPr/>
        </p:nvSpPr>
        <p:spPr>
          <a:xfrm>
            <a:off x="1295400" y="33528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在庫を減らした理由や操作履歴が残りにくい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D3DEAB9-3A4F-555D-7392-52032360440A}"/>
              </a:ext>
            </a:extLst>
          </p:cNvPr>
          <p:cNvSpPr/>
          <p:nvPr/>
        </p:nvSpPr>
        <p:spPr>
          <a:xfrm>
            <a:off x="1016000" y="39624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35B097-979C-A141-B327-C6663A214AA5}"/>
              </a:ext>
            </a:extLst>
          </p:cNvPr>
          <p:cNvSpPr txBox="1"/>
          <p:nvPr/>
        </p:nvSpPr>
        <p:spPr>
          <a:xfrm>
            <a:off x="1295400" y="38862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バーコード、ロット番号、有効期限を日常業務に活かしにくい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A499D3C-513C-AD80-2460-671218D90E66}"/>
              </a:ext>
            </a:extLst>
          </p:cNvPr>
          <p:cNvSpPr/>
          <p:nvPr/>
        </p:nvSpPr>
        <p:spPr>
          <a:xfrm>
            <a:off x="1016000" y="44958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84A530F-DD36-AC32-39AD-E12A768F36A7}"/>
              </a:ext>
            </a:extLst>
          </p:cNvPr>
          <p:cNvSpPr txBox="1"/>
          <p:nvPr/>
        </p:nvSpPr>
        <p:spPr>
          <a:xfrm>
            <a:off x="1295400" y="4419600"/>
            <a:ext cx="825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棚卸結果と普段の在庫数の差が追いにくい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C40AF2F-9228-3B8D-F63E-14638D5EEA37}"/>
              </a:ext>
            </a:extLst>
          </p:cNvPr>
          <p:cNvSpPr/>
          <p:nvPr/>
        </p:nvSpPr>
        <p:spPr>
          <a:xfrm>
            <a:off x="8890000" y="2260600"/>
            <a:ext cx="2286000" cy="2921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6D76F32-5EEE-2323-5EC0-0E6B4AE140DB}"/>
              </a:ext>
            </a:extLst>
          </p:cNvPr>
          <p:cNvSpPr txBox="1"/>
          <p:nvPr/>
        </p:nvSpPr>
        <p:spPr>
          <a:xfrm>
            <a:off x="9207500" y="2565400"/>
            <a:ext cx="152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0F766E"/>
                </a:solidFill>
                <a:latin typeface="Yu Gothic" panose="020B0400000000000000" pitchFamily="50" charset="-128"/>
              </a:rPr>
              <a:t>目的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613E646-469E-B819-DBB2-025F37A211D7}"/>
              </a:ext>
            </a:extLst>
          </p:cNvPr>
          <p:cNvSpPr txBox="1"/>
          <p:nvPr/>
        </p:nvSpPr>
        <p:spPr>
          <a:xfrm>
            <a:off x="9207500" y="3048000"/>
            <a:ext cx="1651000" cy="107721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>
                <a:solidFill>
                  <a:srgbClr val="1E293B"/>
                </a:solidFill>
                <a:latin typeface="Yu Gothic" panose="020B0400000000000000" pitchFamily="50" charset="-128"/>
              </a:rPr>
              <a:t>在庫が見える、足りないものが分かる、日常出庫をすぐ記録できる状態を作ります。</a:t>
            </a:r>
          </a:p>
        </p:txBody>
      </p:sp>
    </p:spTree>
    <p:extLst>
      <p:ext uri="{BB962C8B-B14F-4D97-AF65-F5344CB8AC3E}">
        <p14:creationId xmlns:p14="http://schemas.microsoft.com/office/powerpoint/2010/main" val="264255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E7EBDB-B838-1180-928F-D1584E1C805B}"/>
              </a:ext>
            </a:extLst>
          </p:cNvPr>
          <p:cNvSpPr txBox="1"/>
          <p:nvPr/>
        </p:nvSpPr>
        <p:spPr>
          <a:xfrm>
            <a:off x="558800" y="4318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000" b="1">
                <a:solidFill>
                  <a:srgbClr val="0F766E"/>
                </a:solidFill>
                <a:latin typeface="Yu Gothic" panose="020B0400000000000000" pitchFamily="50" charset="-128"/>
              </a:rPr>
              <a:t>全体像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51918B-8536-443D-0C4A-B59E2F44F022}"/>
              </a:ext>
            </a:extLst>
          </p:cNvPr>
          <p:cNvSpPr txBox="1"/>
          <p:nvPr/>
        </p:nvSpPr>
        <p:spPr>
          <a:xfrm>
            <a:off x="558800" y="736600"/>
            <a:ext cx="977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ホームから、日常操作と要確認情報へすぐ進めます。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89FC15-0A66-3754-BA57-2D8ACA15344F}"/>
              </a:ext>
            </a:extLst>
          </p:cNvPr>
          <p:cNvSpPr txBox="1"/>
          <p:nvPr/>
        </p:nvSpPr>
        <p:spPr>
          <a:xfrm>
            <a:off x="558800" y="1346200"/>
            <a:ext cx="10287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50">
                <a:solidFill>
                  <a:srgbClr val="475569"/>
                </a:solidFill>
                <a:latin typeface="Yu Gothic" panose="020B0400000000000000" pitchFamily="50" charset="-128"/>
              </a:rPr>
              <a:t>出庫、不足、発注候補、バーコード出入庫を上部に集約しています。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1A5FA29-C723-DF84-A927-1BA532852DC0}"/>
              </a:ext>
            </a:extLst>
          </p:cNvPr>
          <p:cNvCxnSpPr/>
          <p:nvPr/>
        </p:nvCxnSpPr>
        <p:spPr>
          <a:xfrm>
            <a:off x="558800" y="1803400"/>
            <a:ext cx="11074400" cy="0"/>
          </a:xfrm>
          <a:prstGeom prst="line">
            <a:avLst/>
          </a:prstGeom>
          <a:ln w="127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27F87E66-F0BB-C6F1-E755-9327F3F52B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06171"/>
            <a:ext cx="6604000" cy="371565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CFA7DD25-9B38-EC0C-1D5D-60E9922E7B0A}"/>
              </a:ext>
            </a:extLst>
          </p:cNvPr>
          <p:cNvSpPr/>
          <p:nvPr/>
        </p:nvSpPr>
        <p:spPr>
          <a:xfrm>
            <a:off x="7620000" y="2095500"/>
            <a:ext cx="3556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F0D5B9-962E-03AE-C3E1-407638A19D29}"/>
              </a:ext>
            </a:extLst>
          </p:cNvPr>
          <p:cNvSpPr/>
          <p:nvPr/>
        </p:nvSpPr>
        <p:spPr>
          <a:xfrm>
            <a:off x="7620000" y="2095500"/>
            <a:ext cx="63500" cy="1066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EE8247-5788-4B79-52B2-7DE1A56552F3}"/>
              </a:ext>
            </a:extLst>
          </p:cNvPr>
          <p:cNvSpPr txBox="1"/>
          <p:nvPr/>
        </p:nvSpPr>
        <p:spPr>
          <a:xfrm>
            <a:off x="7874000" y="2311400"/>
            <a:ext cx="3149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上部の主要導線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092795-4E27-A8BE-B221-620DACCC0AF7}"/>
              </a:ext>
            </a:extLst>
          </p:cNvPr>
          <p:cNvSpPr txBox="1"/>
          <p:nvPr/>
        </p:nvSpPr>
        <p:spPr>
          <a:xfrm>
            <a:off x="7874000" y="2755900"/>
            <a:ext cx="3124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クイック出庫、不足在庫、発注候補、バーコード出入庫を大きく表示します。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C61364C-2E6A-15E4-B9D0-A8311CF4D6D0}"/>
              </a:ext>
            </a:extLst>
          </p:cNvPr>
          <p:cNvSpPr/>
          <p:nvPr/>
        </p:nvSpPr>
        <p:spPr>
          <a:xfrm>
            <a:off x="7620000" y="3441700"/>
            <a:ext cx="3556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6263A6F-9B92-AAD0-2BED-D9C8E9D4ED16}"/>
              </a:ext>
            </a:extLst>
          </p:cNvPr>
          <p:cNvSpPr/>
          <p:nvPr/>
        </p:nvSpPr>
        <p:spPr>
          <a:xfrm>
            <a:off x="7620000" y="3441700"/>
            <a:ext cx="63500" cy="1066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136EE3A-B118-2B6F-B7C4-E533356E040A}"/>
              </a:ext>
            </a:extLst>
          </p:cNvPr>
          <p:cNvSpPr txBox="1"/>
          <p:nvPr/>
        </p:nvSpPr>
        <p:spPr>
          <a:xfrm>
            <a:off x="7874000" y="3657600"/>
            <a:ext cx="3149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今日の状況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80D93DE-014D-4AEF-72C6-4F6382557686}"/>
              </a:ext>
            </a:extLst>
          </p:cNvPr>
          <p:cNvSpPr txBox="1"/>
          <p:nvPr/>
        </p:nvSpPr>
        <p:spPr>
          <a:xfrm>
            <a:off x="7874000" y="4102100"/>
            <a:ext cx="3124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在庫登録数、不足件数、発注候補、クイック出庫カード数をまとめて確認できます。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489812C-874E-AD28-5CD6-5D5EEA0526CC}"/>
              </a:ext>
            </a:extLst>
          </p:cNvPr>
          <p:cNvSpPr/>
          <p:nvPr/>
        </p:nvSpPr>
        <p:spPr>
          <a:xfrm>
            <a:off x="7620000" y="4787900"/>
            <a:ext cx="3556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8EC44BC-FAB8-383F-9D18-52E20B30EDA5}"/>
              </a:ext>
            </a:extLst>
          </p:cNvPr>
          <p:cNvSpPr/>
          <p:nvPr/>
        </p:nvSpPr>
        <p:spPr>
          <a:xfrm>
            <a:off x="7620000" y="4787900"/>
            <a:ext cx="63500" cy="1066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7EF8DB6-0026-95FD-7473-CE205E5D5F98}"/>
              </a:ext>
            </a:extLst>
          </p:cNvPr>
          <p:cNvSpPr txBox="1"/>
          <p:nvPr/>
        </p:nvSpPr>
        <p:spPr>
          <a:xfrm>
            <a:off x="7874000" y="5003800"/>
            <a:ext cx="3149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要対応の確認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D95C4AE-543F-B7B3-2955-36BA950ADD40}"/>
              </a:ext>
            </a:extLst>
          </p:cNvPr>
          <p:cNvSpPr txBox="1"/>
          <p:nvPr/>
        </p:nvSpPr>
        <p:spPr>
          <a:xfrm>
            <a:off x="7874000" y="5448300"/>
            <a:ext cx="3124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在庫</a:t>
            </a:r>
            <a:r>
              <a:rPr kumimoji="1" lang="en-US" altLang="ja-JP" sz="1180">
                <a:solidFill>
                  <a:srgbClr val="475569"/>
                </a:solidFill>
                <a:latin typeface="Yu Gothic" panose="020B0400000000000000" pitchFamily="50" charset="-128"/>
              </a:rPr>
              <a:t>0</a:t>
            </a:r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、不足在庫、未確認の発注候補、期限ロットを優先的に見られます。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57849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06A846-310C-D7ED-58E3-B0B4E2F9323B}"/>
              </a:ext>
            </a:extLst>
          </p:cNvPr>
          <p:cNvSpPr txBox="1"/>
          <p:nvPr/>
        </p:nvSpPr>
        <p:spPr>
          <a:xfrm>
            <a:off x="558800" y="4318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000" b="1">
                <a:solidFill>
                  <a:srgbClr val="0F766E"/>
                </a:solidFill>
                <a:latin typeface="Yu Gothic" panose="020B0400000000000000" pitchFamily="50" charset="-128"/>
              </a:rPr>
              <a:t>日常操作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183C83-623E-F0CE-EB3E-364B999C9ED7}"/>
              </a:ext>
            </a:extLst>
          </p:cNvPr>
          <p:cNvSpPr txBox="1"/>
          <p:nvPr/>
        </p:nvSpPr>
        <p:spPr>
          <a:xfrm>
            <a:off x="558800" y="736600"/>
            <a:ext cx="977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よく使う材料は、クイック出庫でスピード重視に。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6F87BB-3C04-74A5-BF1B-BDAB0A680FBB}"/>
              </a:ext>
            </a:extLst>
          </p:cNvPr>
          <p:cNvSpPr txBox="1"/>
          <p:nvPr/>
        </p:nvSpPr>
        <p:spPr>
          <a:xfrm>
            <a:off x="558800" y="1346200"/>
            <a:ext cx="10287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50">
                <a:solidFill>
                  <a:srgbClr val="475569"/>
                </a:solidFill>
                <a:latin typeface="Yu Gothic" panose="020B0400000000000000" pitchFamily="50" charset="-128"/>
              </a:rPr>
              <a:t>通常使用の出庫は毎回理由入力を求めず、履歴には「クイック出庫」として残します。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EAAD1B6-5DF9-E76A-2235-5DF41388E5BC}"/>
              </a:ext>
            </a:extLst>
          </p:cNvPr>
          <p:cNvCxnSpPr/>
          <p:nvPr/>
        </p:nvCxnSpPr>
        <p:spPr>
          <a:xfrm>
            <a:off x="558800" y="1803400"/>
            <a:ext cx="11074400" cy="0"/>
          </a:xfrm>
          <a:prstGeom prst="line">
            <a:avLst/>
          </a:prstGeom>
          <a:ln w="127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2C4BF08E-A632-88EA-BA96-BB73EE3428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48374"/>
            <a:ext cx="5207000" cy="292965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5AFA220-3B0B-310F-60EB-72D26E5557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773" y="2108200"/>
            <a:ext cx="4514453" cy="2540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494FA50-90CB-8CCB-2496-EA60E11FF0CE}"/>
              </a:ext>
            </a:extLst>
          </p:cNvPr>
          <p:cNvSpPr/>
          <p:nvPr/>
        </p:nvSpPr>
        <p:spPr>
          <a:xfrm>
            <a:off x="6477000" y="4902200"/>
            <a:ext cx="4826000" cy="101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0CAB3EC-7E46-D4DE-B9D4-5C3F2F0AE2BD}"/>
              </a:ext>
            </a:extLst>
          </p:cNvPr>
          <p:cNvSpPr/>
          <p:nvPr/>
        </p:nvSpPr>
        <p:spPr>
          <a:xfrm>
            <a:off x="6477000" y="4902200"/>
            <a:ext cx="63500" cy="1016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F2D841B-0ABC-8AB4-1486-021D8E8EC917}"/>
              </a:ext>
            </a:extLst>
          </p:cNvPr>
          <p:cNvSpPr txBox="1"/>
          <p:nvPr/>
        </p:nvSpPr>
        <p:spPr>
          <a:xfrm>
            <a:off x="6731000" y="5118100"/>
            <a:ext cx="4419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理由を詳しく残す場合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6C84C0-BCB3-A5B6-B620-A741D2784936}"/>
              </a:ext>
            </a:extLst>
          </p:cNvPr>
          <p:cNvSpPr txBox="1"/>
          <p:nvPr/>
        </p:nvSpPr>
        <p:spPr>
          <a:xfrm>
            <a:off x="6731000" y="5562600"/>
            <a:ext cx="4394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在庫一覧の直接編集やバーコード出入庫で、数量と理由を確認して記録します。</a:t>
            </a:r>
          </a:p>
        </p:txBody>
      </p:sp>
    </p:spTree>
    <p:extLst>
      <p:ext uri="{BB962C8B-B14F-4D97-AF65-F5344CB8AC3E}">
        <p14:creationId xmlns:p14="http://schemas.microsoft.com/office/powerpoint/2010/main" val="350495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6A11B2-ECDE-28C0-8BA5-4E686F913F55}"/>
              </a:ext>
            </a:extLst>
          </p:cNvPr>
          <p:cNvSpPr txBox="1"/>
          <p:nvPr/>
        </p:nvSpPr>
        <p:spPr>
          <a:xfrm>
            <a:off x="558800" y="4318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000" b="1">
                <a:solidFill>
                  <a:srgbClr val="0F766E"/>
                </a:solidFill>
                <a:latin typeface="Yu Gothic" panose="020B0400000000000000" pitchFamily="50" charset="-128"/>
              </a:rPr>
              <a:t>不足から発注へ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E7852E-3803-19D8-ABF1-5201C6A49002}"/>
              </a:ext>
            </a:extLst>
          </p:cNvPr>
          <p:cNvSpPr txBox="1"/>
          <p:nvPr/>
        </p:nvSpPr>
        <p:spPr>
          <a:xfrm>
            <a:off x="558800" y="736600"/>
            <a:ext cx="977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不足在庫から発注候補へ、確認作業をつなげます。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080BE0-1910-073F-2FD1-7F67AFBE3377}"/>
              </a:ext>
            </a:extLst>
          </p:cNvPr>
          <p:cNvSpPr txBox="1"/>
          <p:nvPr/>
        </p:nvSpPr>
        <p:spPr>
          <a:xfrm>
            <a:off x="558800" y="1346200"/>
            <a:ext cx="10287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50">
                <a:solidFill>
                  <a:srgbClr val="475569"/>
                </a:solidFill>
                <a:latin typeface="Yu Gothic" panose="020B0400000000000000" pitchFamily="50" charset="-128"/>
              </a:rPr>
              <a:t>最低在庫を下回った商品を一覧化し、必要なものを発注候補に追加します。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A40F8B-D347-226C-B2AF-A086DDD7B49E}"/>
              </a:ext>
            </a:extLst>
          </p:cNvPr>
          <p:cNvCxnSpPr/>
          <p:nvPr/>
        </p:nvCxnSpPr>
        <p:spPr>
          <a:xfrm>
            <a:off x="558800" y="1803400"/>
            <a:ext cx="11074400" cy="0"/>
          </a:xfrm>
          <a:prstGeom prst="line">
            <a:avLst/>
          </a:prstGeom>
          <a:ln w="127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57AF43C4-13F1-13C4-31DE-E1FA1F74B3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97574"/>
            <a:ext cx="5207000" cy="292965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EF05D5E-29CA-2114-3095-CC67340C0E9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497574"/>
            <a:ext cx="5207000" cy="292965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108DA26-FE9C-3A5F-AB72-C1FC08399E37}"/>
              </a:ext>
            </a:extLst>
          </p:cNvPr>
          <p:cNvCxnSpPr/>
          <p:nvPr/>
        </p:nvCxnSpPr>
        <p:spPr>
          <a:xfrm>
            <a:off x="5892800" y="3962400"/>
            <a:ext cx="368300" cy="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13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CCA49D6-3875-13F1-7FA4-03EBE922E9A3}"/>
              </a:ext>
            </a:extLst>
          </p:cNvPr>
          <p:cNvSpPr txBox="1"/>
          <p:nvPr/>
        </p:nvSpPr>
        <p:spPr>
          <a:xfrm>
            <a:off x="558800" y="4318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000" b="1">
                <a:solidFill>
                  <a:srgbClr val="0F766E"/>
                </a:solidFill>
                <a:latin typeface="Yu Gothic" panose="020B0400000000000000" pitchFamily="50" charset="-128"/>
              </a:rPr>
              <a:t>発注・納品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3F1431-965E-5B43-F2DB-AA6A0B1C6A6D}"/>
              </a:ext>
            </a:extLst>
          </p:cNvPr>
          <p:cNvSpPr txBox="1"/>
          <p:nvPr/>
        </p:nvSpPr>
        <p:spPr>
          <a:xfrm>
            <a:off x="558800" y="736600"/>
            <a:ext cx="977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発注済み・送付方法・納品確認まで、記録として残せます。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E7A409-A1E5-F29D-FA86-4FEFE62A5E84}"/>
              </a:ext>
            </a:extLst>
          </p:cNvPr>
          <p:cNvSpPr txBox="1"/>
          <p:nvPr/>
        </p:nvSpPr>
        <p:spPr>
          <a:xfrm>
            <a:off x="558800" y="1346200"/>
            <a:ext cx="10287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50">
                <a:solidFill>
                  <a:srgbClr val="475569"/>
                </a:solidFill>
                <a:latin typeface="Yu Gothic" panose="020B0400000000000000" pitchFamily="50" charset="-128"/>
              </a:rPr>
              <a:t>外部送信はせず、人が送付した後にアプリへ記録する形です。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368AB44-4057-790D-FB23-B153F683D2B3}"/>
              </a:ext>
            </a:extLst>
          </p:cNvPr>
          <p:cNvCxnSpPr/>
          <p:nvPr/>
        </p:nvCxnSpPr>
        <p:spPr>
          <a:xfrm>
            <a:off x="558800" y="1803400"/>
            <a:ext cx="11074400" cy="0"/>
          </a:xfrm>
          <a:prstGeom prst="line">
            <a:avLst/>
          </a:prstGeom>
          <a:ln w="127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806C303-35B7-F140-4E99-E3F7EEC3757D}"/>
              </a:ext>
            </a:extLst>
          </p:cNvPr>
          <p:cNvSpPr/>
          <p:nvPr/>
        </p:nvSpPr>
        <p:spPr>
          <a:xfrm>
            <a:off x="762000" y="2184400"/>
            <a:ext cx="33020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33F67A-EFDB-FA4B-2754-9882A57B3FF4}"/>
              </a:ext>
            </a:extLst>
          </p:cNvPr>
          <p:cNvSpPr/>
          <p:nvPr/>
        </p:nvSpPr>
        <p:spPr>
          <a:xfrm>
            <a:off x="762000" y="2184400"/>
            <a:ext cx="63500" cy="1168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3CB9EF6-4F2E-AB67-F10C-D2928571080B}"/>
              </a:ext>
            </a:extLst>
          </p:cNvPr>
          <p:cNvSpPr txBox="1"/>
          <p:nvPr/>
        </p:nvSpPr>
        <p:spPr>
          <a:xfrm>
            <a:off x="1016000" y="2400300"/>
            <a:ext cx="2895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700" b="1">
                <a:solidFill>
                  <a:srgbClr val="0B1220"/>
                </a:solidFill>
                <a:latin typeface="Yu Gothic" panose="020B0400000000000000" pitchFamily="50" charset="-128"/>
              </a:rPr>
              <a:t>1. </a:t>
            </a:r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発注候補を確認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94CEE8-8DA6-7ADA-1F93-E7A24A295E4E}"/>
              </a:ext>
            </a:extLst>
          </p:cNvPr>
          <p:cNvSpPr txBox="1"/>
          <p:nvPr/>
        </p:nvSpPr>
        <p:spPr>
          <a:xfrm>
            <a:off x="1016000" y="2844800"/>
            <a:ext cx="2870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発注先ごとに候補を確認し、数量やメモを調整します。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9E43F54-F6F9-4BB1-3778-BB259281D675}"/>
              </a:ext>
            </a:extLst>
          </p:cNvPr>
          <p:cNvSpPr/>
          <p:nvPr/>
        </p:nvSpPr>
        <p:spPr>
          <a:xfrm>
            <a:off x="4445000" y="2184400"/>
            <a:ext cx="33020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B9F0F99-CFC2-C5DF-F23D-1F8C7D640605}"/>
              </a:ext>
            </a:extLst>
          </p:cNvPr>
          <p:cNvSpPr/>
          <p:nvPr/>
        </p:nvSpPr>
        <p:spPr>
          <a:xfrm>
            <a:off x="4445000" y="2184400"/>
            <a:ext cx="63500" cy="1168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BDEE8B2-5E9E-8CCF-0A32-18ED561B7875}"/>
              </a:ext>
            </a:extLst>
          </p:cNvPr>
          <p:cNvSpPr txBox="1"/>
          <p:nvPr/>
        </p:nvSpPr>
        <p:spPr>
          <a:xfrm>
            <a:off x="4699000" y="2400300"/>
            <a:ext cx="2895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700" b="1">
                <a:solidFill>
                  <a:srgbClr val="0B1220"/>
                </a:solidFill>
                <a:latin typeface="Yu Gothic" panose="020B0400000000000000" pitchFamily="50" charset="-128"/>
              </a:rPr>
              <a:t>2. </a:t>
            </a:r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発注書下書きを印刷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99EC9C-7E4D-9F15-8802-CF42628388EE}"/>
              </a:ext>
            </a:extLst>
          </p:cNvPr>
          <p:cNvSpPr txBox="1"/>
          <p:nvPr/>
        </p:nvSpPr>
        <p:spPr>
          <a:xfrm>
            <a:off x="4699000" y="2844800"/>
            <a:ext cx="2870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ブラウザ印刷または</a:t>
            </a:r>
            <a:r>
              <a:rPr kumimoji="1" lang="en-US" altLang="ja-JP" sz="1180">
                <a:solidFill>
                  <a:srgbClr val="475569"/>
                </a:solidFill>
                <a:latin typeface="Yu Gothic" panose="020B0400000000000000" pitchFamily="50" charset="-128"/>
              </a:rPr>
              <a:t>PDF</a:t>
            </a:r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保存で、人が発注先へ送付します。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BC67961-FE4C-FE85-DB0E-E23E84B469BB}"/>
              </a:ext>
            </a:extLst>
          </p:cNvPr>
          <p:cNvSpPr/>
          <p:nvPr/>
        </p:nvSpPr>
        <p:spPr>
          <a:xfrm>
            <a:off x="8128000" y="2184400"/>
            <a:ext cx="33020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F5657B4-0C00-EBBF-99FA-1E7008C8D718}"/>
              </a:ext>
            </a:extLst>
          </p:cNvPr>
          <p:cNvSpPr/>
          <p:nvPr/>
        </p:nvSpPr>
        <p:spPr>
          <a:xfrm>
            <a:off x="8128000" y="2184400"/>
            <a:ext cx="63500" cy="1168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2B9C41A-C3FE-D1DB-D00B-DE336CBE491B}"/>
              </a:ext>
            </a:extLst>
          </p:cNvPr>
          <p:cNvSpPr txBox="1"/>
          <p:nvPr/>
        </p:nvSpPr>
        <p:spPr>
          <a:xfrm>
            <a:off x="8382000" y="2400300"/>
            <a:ext cx="2895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700" b="1">
                <a:solidFill>
                  <a:srgbClr val="0B1220"/>
                </a:solidFill>
                <a:latin typeface="Yu Gothic" panose="020B0400000000000000" pitchFamily="50" charset="-128"/>
              </a:rPr>
              <a:t>3. </a:t>
            </a:r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発注済みを記録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9A24BCA-7D6C-F92C-9778-B2B9FC24EFF3}"/>
              </a:ext>
            </a:extLst>
          </p:cNvPr>
          <p:cNvSpPr txBox="1"/>
          <p:nvPr/>
        </p:nvSpPr>
        <p:spPr>
          <a:xfrm>
            <a:off x="8382000" y="2844800"/>
            <a:ext cx="2870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送付方法、送付メモ、先方対応メモを残せます。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82349C3-DB3B-13FC-524C-6F4D0314AB75}"/>
              </a:ext>
            </a:extLst>
          </p:cNvPr>
          <p:cNvSpPr/>
          <p:nvPr/>
        </p:nvSpPr>
        <p:spPr>
          <a:xfrm>
            <a:off x="2603500" y="3962400"/>
            <a:ext cx="3302000" cy="1320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B747C6A-9440-E986-5F0C-656EC6709AE1}"/>
              </a:ext>
            </a:extLst>
          </p:cNvPr>
          <p:cNvSpPr/>
          <p:nvPr/>
        </p:nvSpPr>
        <p:spPr>
          <a:xfrm>
            <a:off x="2603500" y="3962400"/>
            <a:ext cx="63500" cy="1320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DB96A44-902F-B421-D5B1-CDCCE3936A3C}"/>
              </a:ext>
            </a:extLst>
          </p:cNvPr>
          <p:cNvSpPr txBox="1"/>
          <p:nvPr/>
        </p:nvSpPr>
        <p:spPr>
          <a:xfrm>
            <a:off x="2857500" y="4178300"/>
            <a:ext cx="2895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700" b="1">
                <a:solidFill>
                  <a:srgbClr val="0B1220"/>
                </a:solidFill>
                <a:latin typeface="Yu Gothic" panose="020B0400000000000000" pitchFamily="50" charset="-128"/>
              </a:rPr>
              <a:t>4. </a:t>
            </a:r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納品確認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F11D1C-9EC0-83CB-A1B8-96938B142C6A}"/>
              </a:ext>
            </a:extLst>
          </p:cNvPr>
          <p:cNvSpPr txBox="1"/>
          <p:nvPr/>
        </p:nvSpPr>
        <p:spPr>
          <a:xfrm>
            <a:off x="2857500" y="4622800"/>
            <a:ext cx="2870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納品数量、ロット番号、有効期限を記録し、必要に応じて在庫へ入庫反映します。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4CC0CA9-E3FC-DF24-24CD-3E5D5FD9A896}"/>
              </a:ext>
            </a:extLst>
          </p:cNvPr>
          <p:cNvSpPr/>
          <p:nvPr/>
        </p:nvSpPr>
        <p:spPr>
          <a:xfrm>
            <a:off x="6286500" y="3962400"/>
            <a:ext cx="3302000" cy="1320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4875CE9-2569-5CCA-9E0D-22EB99248B08}"/>
              </a:ext>
            </a:extLst>
          </p:cNvPr>
          <p:cNvSpPr/>
          <p:nvPr/>
        </p:nvSpPr>
        <p:spPr>
          <a:xfrm>
            <a:off x="6286500" y="3962400"/>
            <a:ext cx="63500" cy="1320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8327F4D-D25F-259F-05CA-1C88B0E658CD}"/>
              </a:ext>
            </a:extLst>
          </p:cNvPr>
          <p:cNvSpPr txBox="1"/>
          <p:nvPr/>
        </p:nvSpPr>
        <p:spPr>
          <a:xfrm>
            <a:off x="6540500" y="4178300"/>
            <a:ext cx="2895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自動送信は未対応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734AD15-56C1-4D4E-842A-9E013DF43BE2}"/>
              </a:ext>
            </a:extLst>
          </p:cNvPr>
          <p:cNvSpPr txBox="1"/>
          <p:nvPr/>
        </p:nvSpPr>
        <p:spPr>
          <a:xfrm>
            <a:off x="6540500" y="4622800"/>
            <a:ext cx="28702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メール、</a:t>
            </a:r>
            <a:r>
              <a:rPr kumimoji="1" lang="en-US" altLang="ja-JP" sz="1180">
                <a:solidFill>
                  <a:srgbClr val="475569"/>
                </a:solidFill>
                <a:latin typeface="Yu Gothic" panose="020B0400000000000000" pitchFamily="50" charset="-128"/>
              </a:rPr>
              <a:t>FAX</a:t>
            </a:r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、</a:t>
            </a:r>
            <a:r>
              <a:rPr kumimoji="1" lang="en-US" altLang="ja-JP" sz="1180">
                <a:solidFill>
                  <a:srgbClr val="475569"/>
                </a:solidFill>
                <a:latin typeface="Yu Gothic" panose="020B0400000000000000" pitchFamily="50" charset="-128"/>
              </a:rPr>
              <a:t>LINE</a:t>
            </a:r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、ディーラーへの自動発注は現時点では行いません。</a:t>
            </a:r>
          </a:p>
        </p:txBody>
      </p:sp>
    </p:spTree>
    <p:extLst>
      <p:ext uri="{BB962C8B-B14F-4D97-AF65-F5344CB8AC3E}">
        <p14:creationId xmlns:p14="http://schemas.microsoft.com/office/powerpoint/2010/main" val="2744582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5761B1-C041-7C58-0458-5DBEEB0D2A8B}"/>
              </a:ext>
            </a:extLst>
          </p:cNvPr>
          <p:cNvSpPr txBox="1"/>
          <p:nvPr/>
        </p:nvSpPr>
        <p:spPr>
          <a:xfrm>
            <a:off x="558800" y="4318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000" b="1">
                <a:solidFill>
                  <a:srgbClr val="0F766E"/>
                </a:solidFill>
                <a:latin typeface="Yu Gothic" panose="020B0400000000000000" pitchFamily="50" charset="-128"/>
              </a:rPr>
              <a:t>試用準備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4430C8-5E9E-1592-EC6B-6E1C7942179E}"/>
              </a:ext>
            </a:extLst>
          </p:cNvPr>
          <p:cNvSpPr txBox="1"/>
          <p:nvPr/>
        </p:nvSpPr>
        <p:spPr>
          <a:xfrm>
            <a:off x="558800" y="736600"/>
            <a:ext cx="977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本格試用の最初の山は、商品マスタの準備です。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E797F3-5638-F034-A2FD-3030A3043310}"/>
              </a:ext>
            </a:extLst>
          </p:cNvPr>
          <p:cNvSpPr txBox="1"/>
          <p:nvPr/>
        </p:nvSpPr>
        <p:spPr>
          <a:xfrm>
            <a:off x="558800" y="1346200"/>
            <a:ext cx="10287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250">
                <a:solidFill>
                  <a:srgbClr val="475569"/>
                </a:solidFill>
                <a:latin typeface="Yu Gothic" panose="020B0400000000000000" pitchFamily="50" charset="-128"/>
              </a:rPr>
              <a:t>JAN</a:t>
            </a:r>
            <a:r>
              <a:rPr kumimoji="1" lang="ja-JP" altLang="en-US" sz="1250">
                <a:solidFill>
                  <a:srgbClr val="475569"/>
                </a:solidFill>
                <a:latin typeface="Yu Gothic" panose="020B0400000000000000" pitchFamily="50" charset="-128"/>
              </a:rPr>
              <a:t>コードはバーコード検索の土台になりますが、商品名や発注先まで自動で全て埋まるわけではありません。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9DB2506-35C7-954F-1C15-D446EEC8D59F}"/>
              </a:ext>
            </a:extLst>
          </p:cNvPr>
          <p:cNvCxnSpPr/>
          <p:nvPr/>
        </p:nvCxnSpPr>
        <p:spPr>
          <a:xfrm>
            <a:off x="558800" y="1803400"/>
            <a:ext cx="11074400" cy="0"/>
          </a:xfrm>
          <a:prstGeom prst="line">
            <a:avLst/>
          </a:prstGeom>
          <a:ln w="127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FB39316-2C9A-6F11-8123-9A0D8F8C02AF}"/>
              </a:ext>
            </a:extLst>
          </p:cNvPr>
          <p:cNvSpPr/>
          <p:nvPr/>
        </p:nvSpPr>
        <p:spPr>
          <a:xfrm>
            <a:off x="812800" y="2184400"/>
            <a:ext cx="4889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95A55F-253E-AB19-5A82-418BB92B07FC}"/>
              </a:ext>
            </a:extLst>
          </p:cNvPr>
          <p:cNvSpPr/>
          <p:nvPr/>
        </p:nvSpPr>
        <p:spPr>
          <a:xfrm>
            <a:off x="812800" y="2184400"/>
            <a:ext cx="63500" cy="190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EEC2FD2-56BC-AC51-B00C-17059194A8B3}"/>
              </a:ext>
            </a:extLst>
          </p:cNvPr>
          <p:cNvSpPr txBox="1"/>
          <p:nvPr/>
        </p:nvSpPr>
        <p:spPr>
          <a:xfrm>
            <a:off x="1066800" y="2400300"/>
            <a:ext cx="44831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あるとよい項目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327622-4E57-67F8-B382-50E8687FD7C7}"/>
              </a:ext>
            </a:extLst>
          </p:cNvPr>
          <p:cNvSpPr txBox="1"/>
          <p:nvPr/>
        </p:nvSpPr>
        <p:spPr>
          <a:xfrm>
            <a:off x="1066800" y="2844800"/>
            <a:ext cx="44577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商品名、カテゴリ、現在庫、最低在庫、単位、</a:t>
            </a:r>
            <a:r>
              <a:rPr kumimoji="1" lang="en-US" altLang="ja-JP" sz="1180">
                <a:solidFill>
                  <a:srgbClr val="475569"/>
                </a:solidFill>
                <a:latin typeface="Yu Gothic" panose="020B0400000000000000" pitchFamily="50" charset="-128"/>
              </a:rPr>
              <a:t>JAN</a:t>
            </a:r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コード、主発注先、品番、発注単位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CCE460E-757A-1EA0-960B-185710AEF1F1}"/>
              </a:ext>
            </a:extLst>
          </p:cNvPr>
          <p:cNvSpPr/>
          <p:nvPr/>
        </p:nvSpPr>
        <p:spPr>
          <a:xfrm>
            <a:off x="6477000" y="2184400"/>
            <a:ext cx="4889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77D8A7B-BE2A-8A96-AF0F-3DAEF77278CF}"/>
              </a:ext>
            </a:extLst>
          </p:cNvPr>
          <p:cNvSpPr/>
          <p:nvPr/>
        </p:nvSpPr>
        <p:spPr>
          <a:xfrm>
            <a:off x="6477000" y="2184400"/>
            <a:ext cx="63500" cy="190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F5D339F-63ED-EB30-AB9F-48C5B717D23A}"/>
              </a:ext>
            </a:extLst>
          </p:cNvPr>
          <p:cNvSpPr txBox="1"/>
          <p:nvPr/>
        </p:nvSpPr>
        <p:spPr>
          <a:xfrm>
            <a:off x="6731000" y="2400300"/>
            <a:ext cx="44831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B1220"/>
                </a:solidFill>
                <a:latin typeface="Yu Gothic" panose="020B0400000000000000" pitchFamily="50" charset="-128"/>
              </a:rPr>
              <a:t>現実的な進め方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A9AD05B-9041-865C-7EA5-1D23E0D064C0}"/>
              </a:ext>
            </a:extLst>
          </p:cNvPr>
          <p:cNvSpPr txBox="1"/>
          <p:nvPr/>
        </p:nvSpPr>
        <p:spPr>
          <a:xfrm>
            <a:off x="6731000" y="2844800"/>
            <a:ext cx="4457700" cy="3631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80">
                <a:solidFill>
                  <a:srgbClr val="475569"/>
                </a:solidFill>
                <a:latin typeface="Yu Gothic" panose="020B0400000000000000" pitchFamily="50" charset="-128"/>
              </a:rPr>
              <a:t>ディーラーや院内の既存管理表から商品一覧サンプルをもらい、取り込み形式に整えて一括投入します。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222B44-6472-4D04-54BB-AA98A07E0BF8}"/>
              </a:ext>
            </a:extLst>
          </p:cNvPr>
          <p:cNvSpPr txBox="1"/>
          <p:nvPr/>
        </p:nvSpPr>
        <p:spPr>
          <a:xfrm>
            <a:off x="1270000" y="4724400"/>
            <a:ext cx="9652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kumimoji="1" lang="ja-JP" altLang="en-US" sz="2000" b="1">
                <a:solidFill>
                  <a:srgbClr val="0B1220"/>
                </a:solidFill>
                <a:latin typeface="Yu Gothic" panose="020B0400000000000000" pitchFamily="50" charset="-128"/>
              </a:rPr>
              <a:t>最初から全商品を完璧に整えるより、よく使う商品から始めて、実運用に合わせて育てる進め方が現実的です。</a:t>
            </a:r>
          </a:p>
        </p:txBody>
      </p:sp>
    </p:spTree>
    <p:extLst>
      <p:ext uri="{BB962C8B-B14F-4D97-AF65-F5344CB8AC3E}">
        <p14:creationId xmlns:p14="http://schemas.microsoft.com/office/powerpoint/2010/main" val="39048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F92CBF-05BD-F04F-E1D0-F36AC07B0CF4}"/>
              </a:ext>
            </a:extLst>
          </p:cNvPr>
          <p:cNvSpPr txBox="1"/>
          <p:nvPr/>
        </p:nvSpPr>
        <p:spPr>
          <a:xfrm>
            <a:off x="558800" y="4318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000" b="1">
                <a:solidFill>
                  <a:srgbClr val="0F766E"/>
                </a:solidFill>
                <a:latin typeface="Yu Gothic" panose="020B0400000000000000" pitchFamily="50" charset="-128"/>
              </a:rPr>
              <a:t>次の進め方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3D5B39-28D5-A749-08A1-1CA85530A590}"/>
              </a:ext>
            </a:extLst>
          </p:cNvPr>
          <p:cNvSpPr txBox="1"/>
          <p:nvPr/>
        </p:nvSpPr>
        <p:spPr>
          <a:xfrm>
            <a:off x="558800" y="736600"/>
            <a:ext cx="977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2700" b="1">
                <a:solidFill>
                  <a:srgbClr val="08111F"/>
                </a:solidFill>
                <a:latin typeface="Yu Gothic" panose="020B0400000000000000" pitchFamily="50" charset="-128"/>
              </a:rPr>
              <a:t>デモ確認後、商品一覧サンプルをもとに試用準備へ進みます。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79E5E7-D977-0BBD-8C16-69A4871BC6C5}"/>
              </a:ext>
            </a:extLst>
          </p:cNvPr>
          <p:cNvSpPr txBox="1"/>
          <p:nvPr/>
        </p:nvSpPr>
        <p:spPr>
          <a:xfrm>
            <a:off x="558800" y="1346200"/>
            <a:ext cx="10287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50">
                <a:solidFill>
                  <a:srgbClr val="475569"/>
                </a:solidFill>
                <a:latin typeface="Yu Gothic" panose="020B0400000000000000" pitchFamily="50" charset="-128"/>
              </a:rPr>
              <a:t>初回確認では、画面の流れが現場に合うかを中心に見ます。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396D04E-9789-88B6-D031-B7EC184FA1A4}"/>
              </a:ext>
            </a:extLst>
          </p:cNvPr>
          <p:cNvCxnSpPr/>
          <p:nvPr/>
        </p:nvCxnSpPr>
        <p:spPr>
          <a:xfrm>
            <a:off x="558800" y="1803400"/>
            <a:ext cx="11074400" cy="0"/>
          </a:xfrm>
          <a:prstGeom prst="line">
            <a:avLst/>
          </a:prstGeom>
          <a:ln w="127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A1F666D-0320-9198-E8C9-8D0DAE7ED467}"/>
              </a:ext>
            </a:extLst>
          </p:cNvPr>
          <p:cNvSpPr/>
          <p:nvPr/>
        </p:nvSpPr>
        <p:spPr>
          <a:xfrm>
            <a:off x="1016000" y="23622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5DCE5A-C5DC-A1A8-F34B-242F25316628}"/>
              </a:ext>
            </a:extLst>
          </p:cNvPr>
          <p:cNvSpPr txBox="1"/>
          <p:nvPr/>
        </p:nvSpPr>
        <p:spPr>
          <a:xfrm>
            <a:off x="1295400" y="2286000"/>
            <a:ext cx="863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顧客に画面を見てもらう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6A3E88D-BB82-2502-20BB-6BBB32E4C814}"/>
              </a:ext>
            </a:extLst>
          </p:cNvPr>
          <p:cNvSpPr/>
          <p:nvPr/>
        </p:nvSpPr>
        <p:spPr>
          <a:xfrm>
            <a:off x="1016000" y="28956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B52D799-2993-D9CC-1313-825705262B97}"/>
              </a:ext>
            </a:extLst>
          </p:cNvPr>
          <p:cNvSpPr txBox="1"/>
          <p:nvPr/>
        </p:nvSpPr>
        <p:spPr>
          <a:xfrm>
            <a:off x="1295400" y="2819400"/>
            <a:ext cx="863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試用するかどうかを確認する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B49FAC9-63D5-CC2F-4A07-A81497174B0F}"/>
              </a:ext>
            </a:extLst>
          </p:cNvPr>
          <p:cNvSpPr/>
          <p:nvPr/>
        </p:nvSpPr>
        <p:spPr>
          <a:xfrm>
            <a:off x="1016000" y="34290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7606D7-CFA1-E9F2-F86A-1B0F30A83051}"/>
              </a:ext>
            </a:extLst>
          </p:cNvPr>
          <p:cNvSpPr txBox="1"/>
          <p:nvPr/>
        </p:nvSpPr>
        <p:spPr>
          <a:xfrm>
            <a:off x="1295400" y="3352800"/>
            <a:ext cx="863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試用する場合、商品一覧のサンプルデータを用意する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5EB8D5-1871-F9A6-949A-E4C9651E5101}"/>
              </a:ext>
            </a:extLst>
          </p:cNvPr>
          <p:cNvSpPr/>
          <p:nvPr/>
        </p:nvSpPr>
        <p:spPr>
          <a:xfrm>
            <a:off x="1016000" y="39624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D76F56A-568A-D057-069F-90E44F411886}"/>
              </a:ext>
            </a:extLst>
          </p:cNvPr>
          <p:cNvSpPr txBox="1"/>
          <p:nvPr/>
        </p:nvSpPr>
        <p:spPr>
          <a:xfrm>
            <a:off x="1295400" y="3886200"/>
            <a:ext cx="863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取り込み項目を確認し、商品マスタを整形する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210FE67-C203-17E5-42C7-FFC5D05E83F2}"/>
              </a:ext>
            </a:extLst>
          </p:cNvPr>
          <p:cNvSpPr/>
          <p:nvPr/>
        </p:nvSpPr>
        <p:spPr>
          <a:xfrm>
            <a:off x="1016000" y="4495800"/>
            <a:ext cx="101600" cy="10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215F19F-DF64-0E01-48AB-591304CCB18D}"/>
              </a:ext>
            </a:extLst>
          </p:cNvPr>
          <p:cNvSpPr txBox="1"/>
          <p:nvPr/>
        </p:nvSpPr>
        <p:spPr>
          <a:xfrm>
            <a:off x="1295400" y="4419600"/>
            <a:ext cx="863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1E293B"/>
                </a:solidFill>
                <a:latin typeface="Yu Gothic" panose="020B0400000000000000" pitchFamily="50" charset="-128"/>
              </a:rPr>
              <a:t>実際の業務に近い形で試用し、不足項目を確認する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7EB31148-0675-1F7A-886D-0940C46B3D30}"/>
              </a:ext>
            </a:extLst>
          </p:cNvPr>
          <p:cNvSpPr/>
          <p:nvPr/>
        </p:nvSpPr>
        <p:spPr>
          <a:xfrm>
            <a:off x="8699500" y="2349500"/>
            <a:ext cx="2413000" cy="241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120DEA4-7CB2-784C-3304-6BD01FCB38F8}"/>
              </a:ext>
            </a:extLst>
          </p:cNvPr>
          <p:cNvSpPr txBox="1"/>
          <p:nvPr/>
        </p:nvSpPr>
        <p:spPr>
          <a:xfrm>
            <a:off x="9017000" y="2667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0F766E"/>
                </a:solidFill>
                <a:latin typeface="Yu Gothic" panose="020B0400000000000000" pitchFamily="50" charset="-128"/>
              </a:rPr>
              <a:t>デモの位置づけ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60BE7E7-8B10-7985-F487-85618ED1EEDB}"/>
              </a:ext>
            </a:extLst>
          </p:cNvPr>
          <p:cNvSpPr txBox="1"/>
          <p:nvPr/>
        </p:nvSpPr>
        <p:spPr>
          <a:xfrm>
            <a:off x="9017000" y="3175000"/>
            <a:ext cx="17145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50">
                <a:solidFill>
                  <a:srgbClr val="1E293B"/>
                </a:solidFill>
                <a:latin typeface="Yu Gothic" panose="020B0400000000000000" pitchFamily="50" charset="-128"/>
              </a:rPr>
              <a:t>正式運用前の試用確認です。実在患者情報や秘密情報は入力しません。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4087223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Microsoft Office PowerPoint</Application>
  <PresentationFormat>ユーザー設定</PresentationFormat>
  <Paragraphs>66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卓也 田中</dc:creator>
  <cp:lastModifiedBy>卓也 田中</cp:lastModifiedBy>
  <cp:revision>1</cp:revision>
  <dcterms:created xsi:type="dcterms:W3CDTF">2026-05-23T13:17:28Z</dcterms:created>
  <dcterms:modified xsi:type="dcterms:W3CDTF">2026-05-23T13:17:28Z</dcterms:modified>
</cp:coreProperties>
</file>